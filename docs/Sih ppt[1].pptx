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8288000" cy="10287000"/>
  <p:notesSz cx="6858000" cy="9144000"/>
  <p:embeddedFontLst>
    <p:embeddedFont>
      <p:font typeface="Abril Fatface" panose="02000503000000020003" pitchFamily="2" charset="0"/>
      <p:regular r:id="rId9"/>
    </p:embeddedFont>
    <p:embeddedFont>
      <p:font typeface="Libre Baskerville" panose="02000000000000000000" pitchFamily="2" charset="0"/>
      <p:regular r:id="rId10"/>
      <p:bold r:id="rId11"/>
      <p: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aaTG1eXADwpz0d4vSY7pm1yGV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FFCCD-23BA-46D7-ADA2-A900C92592BE}" v="3" dt="2025-09-09T17:58:17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2" y="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itya Bhardwaj" userId="ca04aa9efad9741d" providerId="LiveId" clId="{CE98AC29-29FD-465C-893A-46652E37006D}"/>
    <pc:docChg chg="undo custSel modSld">
      <pc:chgData name="Aaditya Bhardwaj" userId="ca04aa9efad9741d" providerId="LiveId" clId="{CE98AC29-29FD-465C-893A-46652E37006D}" dt="2025-09-09T17:58:24.139" v="42"/>
      <pc:docMkLst>
        <pc:docMk/>
      </pc:docMkLst>
      <pc:sldChg chg="addSp delSp modSp mod">
        <pc:chgData name="Aaditya Bhardwaj" userId="ca04aa9efad9741d" providerId="LiveId" clId="{CE98AC29-29FD-465C-893A-46652E37006D}" dt="2025-09-09T17:58:24.139" v="42"/>
        <pc:sldMkLst>
          <pc:docMk/>
          <pc:sldMk cId="0" sldId="256"/>
        </pc:sldMkLst>
        <pc:spChg chg="add del mod">
          <ac:chgData name="Aaditya Bhardwaj" userId="ca04aa9efad9741d" providerId="LiveId" clId="{CE98AC29-29FD-465C-893A-46652E37006D}" dt="2025-09-09T17:58:24.139" v="42"/>
          <ac:spMkLst>
            <pc:docMk/>
            <pc:sldMk cId="0" sldId="256"/>
            <ac:spMk id="2" creationId="{4492D31A-8084-EBC9-3F48-C78FB164EAA0}"/>
          </ac:spMkLst>
        </pc:spChg>
        <pc:spChg chg="mod">
          <ac:chgData name="Aaditya Bhardwaj" userId="ca04aa9efad9741d" providerId="LiveId" clId="{CE98AC29-29FD-465C-893A-46652E37006D}" dt="2025-09-09T17:53:38.160" v="5" actId="1035"/>
          <ac:spMkLst>
            <pc:docMk/>
            <pc:sldMk cId="0" sldId="256"/>
            <ac:spMk id="98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4:26.881" v="11" actId="1076"/>
          <ac:spMkLst>
            <pc:docMk/>
            <pc:sldMk cId="0" sldId="256"/>
            <ac:spMk id="99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8:21.796" v="40" actId="1076"/>
          <ac:spMkLst>
            <pc:docMk/>
            <pc:sldMk cId="0" sldId="256"/>
            <ac:spMk id="100" creationId="{00000000-0000-0000-0000-000000000000}"/>
          </ac:spMkLst>
        </pc:spChg>
      </pc:sldChg>
      <pc:sldChg chg="addSp modSp mod">
        <pc:chgData name="Aaditya Bhardwaj" userId="ca04aa9efad9741d" providerId="LiveId" clId="{CE98AC29-29FD-465C-893A-46652E37006D}" dt="2025-09-09T17:58:05.009" v="38" actId="113"/>
        <pc:sldMkLst>
          <pc:docMk/>
          <pc:sldMk cId="0" sldId="257"/>
        </pc:sldMkLst>
        <pc:spChg chg="add mod">
          <ac:chgData name="Aaditya Bhardwaj" userId="ca04aa9efad9741d" providerId="LiveId" clId="{CE98AC29-29FD-465C-893A-46652E37006D}" dt="2025-09-09T17:58:05.009" v="38" actId="113"/>
          <ac:spMkLst>
            <pc:docMk/>
            <pc:sldMk cId="0" sldId="257"/>
            <ac:spMk id="2" creationId="{CB9CD5EF-005B-47DF-63DF-A75360A21E92}"/>
          </ac:spMkLst>
        </pc:spChg>
        <pc:spChg chg="mod">
          <ac:chgData name="Aaditya Bhardwaj" userId="ca04aa9efad9741d" providerId="LiveId" clId="{CE98AC29-29FD-465C-893A-46652E37006D}" dt="2025-09-09T17:54:46.046" v="14" actId="1076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4:54.313" v="15" actId="1076"/>
          <ac:spMkLst>
            <pc:docMk/>
            <pc:sldMk cId="0" sldId="257"/>
            <ac:spMk id="112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5:07.076" v="17" actId="1076"/>
          <ac:spMkLst>
            <pc:docMk/>
            <pc:sldMk cId="0" sldId="257"/>
            <ac:spMk id="127" creationId="{00000000-0000-0000-0000-000000000000}"/>
          </ac:spMkLst>
        </pc:spChg>
      </pc:sldChg>
      <pc:sldChg chg="modSp mod">
        <pc:chgData name="Aaditya Bhardwaj" userId="ca04aa9efad9741d" providerId="LiveId" clId="{CE98AC29-29FD-465C-893A-46652E37006D}" dt="2025-09-09T17:56:43.042" v="27" actId="1076"/>
        <pc:sldMkLst>
          <pc:docMk/>
          <pc:sldMk cId="0" sldId="258"/>
        </pc:sldMkLst>
        <pc:spChg chg="mod">
          <ac:chgData name="Aaditya Bhardwaj" userId="ca04aa9efad9741d" providerId="LiveId" clId="{CE98AC29-29FD-465C-893A-46652E37006D}" dt="2025-09-09T17:55:48.726" v="20" actId="1076"/>
          <ac:spMkLst>
            <pc:docMk/>
            <pc:sldMk cId="0" sldId="258"/>
            <ac:spMk id="144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30.401" v="25" actId="1076"/>
          <ac:spMkLst>
            <pc:docMk/>
            <pc:sldMk cId="0" sldId="258"/>
            <ac:spMk id="145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01.431" v="22" actId="1076"/>
          <ac:spMkLst>
            <pc:docMk/>
            <pc:sldMk cId="0" sldId="258"/>
            <ac:spMk id="149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23.160" v="24" actId="1076"/>
          <ac:spMkLst>
            <pc:docMk/>
            <pc:sldMk cId="0" sldId="258"/>
            <ac:spMk id="150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43.042" v="27" actId="1076"/>
          <ac:spMkLst>
            <pc:docMk/>
            <pc:sldMk cId="0" sldId="258"/>
            <ac:spMk id="152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35.281" v="26" actId="1076"/>
          <ac:spMkLst>
            <pc:docMk/>
            <pc:sldMk cId="0" sldId="258"/>
            <ac:spMk id="154" creationId="{00000000-0000-0000-0000-000000000000}"/>
          </ac:spMkLst>
        </pc:spChg>
      </pc:sldChg>
      <pc:sldChg chg="modSp mod">
        <pc:chgData name="Aaditya Bhardwaj" userId="ca04aa9efad9741d" providerId="LiveId" clId="{CE98AC29-29FD-465C-893A-46652E37006D}" dt="2025-09-09T17:55:34.231" v="19" actId="1076"/>
        <pc:sldMkLst>
          <pc:docMk/>
          <pc:sldMk cId="0" sldId="259"/>
        </pc:sldMkLst>
        <pc:spChg chg="mod">
          <ac:chgData name="Aaditya Bhardwaj" userId="ca04aa9efad9741d" providerId="LiveId" clId="{CE98AC29-29FD-465C-893A-46652E37006D}" dt="2025-09-09T17:55:34.231" v="19" actId="1076"/>
          <ac:spMkLst>
            <pc:docMk/>
            <pc:sldMk cId="0" sldId="259"/>
            <ac:spMk id="166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5:22.471" v="18" actId="207"/>
          <ac:spMkLst>
            <pc:docMk/>
            <pc:sldMk cId="0" sldId="259"/>
            <ac:spMk id="176" creationId="{00000000-0000-0000-0000-000000000000}"/>
          </ac:spMkLst>
        </pc:spChg>
      </pc:sldChg>
      <pc:sldChg chg="modSp mod">
        <pc:chgData name="Aaditya Bhardwaj" userId="ca04aa9efad9741d" providerId="LiveId" clId="{CE98AC29-29FD-465C-893A-46652E37006D}" dt="2025-09-09T17:56:51.909" v="29" actId="14100"/>
        <pc:sldMkLst>
          <pc:docMk/>
          <pc:sldMk cId="0" sldId="260"/>
        </pc:sldMkLst>
        <pc:spChg chg="mod">
          <ac:chgData name="Aaditya Bhardwaj" userId="ca04aa9efad9741d" providerId="LiveId" clId="{CE98AC29-29FD-465C-893A-46652E37006D}" dt="2025-09-09T17:56:51.909" v="29" actId="14100"/>
          <ac:spMkLst>
            <pc:docMk/>
            <pc:sldMk cId="0" sldId="260"/>
            <ac:spMk id="205" creationId="{00000000-0000-0000-0000-000000000000}"/>
          </ac:spMkLst>
        </pc:spChg>
        <pc:spChg chg="mod">
          <ac:chgData name="Aaditya Bhardwaj" userId="ca04aa9efad9741d" providerId="LiveId" clId="{CE98AC29-29FD-465C-893A-46652E37006D}" dt="2025-09-09T17:56:49.193" v="28" actId="14100"/>
          <ac:spMkLst>
            <pc:docMk/>
            <pc:sldMk cId="0" sldId="260"/>
            <ac:spMk id="2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07" name="Google Shape;107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‹#›</a:t>
            </a:r>
            <a:endParaRPr dirty="0"/>
          </a:p>
        </p:txBody>
      </p:sp>
      <p:sp>
        <p:nvSpPr>
          <p:cNvPr id="161" name="Google Shape;16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35" name="Google Shape;135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86" name="Google Shape;186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5" name="Google Shape;215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17" name="Google Shape;217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9F6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JPG"/><Relationship Id="rId7" Type="http://schemas.openxmlformats.org/officeDocument/2006/relationships/hyperlink" Target="https://www.worldbank.org/en/news/feature/2022/07/27/what-you-need-to-know-about-the-measurement-reporting-and-verification-mrv-of-carbon-credi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rism.sustainability-directory.com/scenario/blockchain-for-transparent-blue-carbon-credit-markets/" TargetMode="External"/><Relationship Id="rId5" Type="http://schemas.openxmlformats.org/officeDocument/2006/relationships/hyperlink" Target="https://www.carbonmark.com/post/the-rise-of-tokenized-carbon-credits-why-blockchain-is-changing-everything" TargetMode="External"/><Relationship Id="rId4" Type="http://schemas.openxmlformats.org/officeDocument/2006/relationships/hyperlink" Target="https://www.frontiersin.org/journals/blockchain/articles/10.3389/fbloc.2025.1603695/full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>
            <a:spLocks/>
          </p:cNvSpPr>
          <p:nvPr/>
        </p:nvSpPr>
        <p:spPr>
          <a:xfrm>
            <a:off x="10629" y="0"/>
            <a:ext cx="18277372" cy="11179277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992238" y="1653779"/>
            <a:ext cx="16303500" cy="21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6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62" dirty="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Blue Carbon Chain: A Transparent and Equitable Registry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992237" y="4023746"/>
            <a:ext cx="16303526" cy="60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 Statement ID: 25038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966938" y="4774852"/>
            <a:ext cx="9268444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 Statement Title: Blockchain-Based Blue Carbon Registry and MRV System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992238" y="5547420"/>
            <a:ext cx="16303526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87" dirty="0">
              <a:solidFill>
                <a:srgbClr val="7465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Theme: Clean &amp; Green Technology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992238" y="6304996"/>
            <a:ext cx="16303526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87" dirty="0">
              <a:solidFill>
                <a:srgbClr val="7465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Category: Software</a:t>
            </a:r>
            <a:endParaRPr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966937" y="7121398"/>
            <a:ext cx="16303526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87" dirty="0">
              <a:solidFill>
                <a:srgbClr val="7465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lvl="0">
              <a:lnSpc>
                <a:spcPct val="195427"/>
              </a:lnSpc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ID: </a:t>
            </a:r>
            <a:r>
              <a:rPr lang="en-IN" sz="2000" dirty="0">
                <a:solidFill>
                  <a:srgbClr val="887B70"/>
                </a:solidFill>
              </a:rPr>
              <a:t>O2</a:t>
            </a:r>
            <a:endParaRPr sz="2000" dirty="0">
              <a:solidFill>
                <a:srgbClr val="887B70"/>
              </a:solidFill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936957" y="7976887"/>
            <a:ext cx="16303526" cy="131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87" dirty="0">
              <a:solidFill>
                <a:srgbClr val="7465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Name: Group Phi</a:t>
            </a:r>
            <a:endParaRPr dirty="0"/>
          </a:p>
        </p:txBody>
      </p:sp>
      <p:pic>
        <p:nvPicPr>
          <p:cNvPr id="101" name="Google Shape;101;p1" title="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933875" cy="19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435882" y="-43811"/>
            <a:ext cx="90033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87" dirty="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Our Proposal: A </a:t>
            </a:r>
            <a:r>
              <a:rPr lang="en-US" sz="3187" dirty="0">
                <a:solidFill>
                  <a:srgbClr val="B88E23"/>
                </a:solidFill>
                <a:latin typeface="Abril Fatface"/>
                <a:ea typeface="Abril Fatface"/>
                <a:cs typeface="Abril Fatface"/>
                <a:sym typeface="Abril Fatface"/>
              </a:rPr>
              <a:t>Blockchain-Powered Solution</a:t>
            </a:r>
            <a:endParaRPr dirty="0"/>
          </a:p>
        </p:txBody>
      </p:sp>
      <p:sp>
        <p:nvSpPr>
          <p:cNvPr id="113" name="Google Shape;113;p2"/>
          <p:cNvSpPr txBox="1"/>
          <p:nvPr/>
        </p:nvSpPr>
        <p:spPr>
          <a:xfrm>
            <a:off x="719435" y="1217860"/>
            <a:ext cx="6205835" cy="452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5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5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Traditional vs. Blue CarbonChain Approach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71351" y="1978224"/>
            <a:ext cx="8855202" cy="4492465"/>
          </a:xfrm>
          <a:custGeom>
            <a:avLst/>
            <a:gdLst/>
            <a:ahLst/>
            <a:cxnLst/>
            <a:rect l="l" t="t" r="r" b="b"/>
            <a:pathLst>
              <a:path w="11806936" h="5989955" extrusionOk="0">
                <a:moveTo>
                  <a:pt x="0" y="41148"/>
                </a:moveTo>
                <a:cubicBezTo>
                  <a:pt x="0" y="18415"/>
                  <a:pt x="18415" y="0"/>
                  <a:pt x="41148" y="0"/>
                </a:cubicBezTo>
                <a:lnTo>
                  <a:pt x="11765788" y="0"/>
                </a:lnTo>
                <a:cubicBezTo>
                  <a:pt x="11788522" y="0"/>
                  <a:pt x="11806936" y="18415"/>
                  <a:pt x="11806936" y="41148"/>
                </a:cubicBezTo>
                <a:lnTo>
                  <a:pt x="11806936" y="5948807"/>
                </a:lnTo>
                <a:cubicBezTo>
                  <a:pt x="11806936" y="5971540"/>
                  <a:pt x="11788522" y="5989955"/>
                  <a:pt x="11765788" y="5989955"/>
                </a:cubicBezTo>
                <a:lnTo>
                  <a:pt x="41148" y="5989955"/>
                </a:lnTo>
                <a:cubicBezTo>
                  <a:pt x="18415" y="5989955"/>
                  <a:pt x="0" y="5971540"/>
                  <a:pt x="0" y="5948807"/>
                </a:cubicBezTo>
                <a:close/>
              </a:path>
            </a:pathLst>
          </a:custGeom>
          <a:solidFill>
            <a:srgbClr val="F2EB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76882" y="2126605"/>
            <a:ext cx="4267497" cy="378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Traditional Carbon Market Registry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776882" y="2605683"/>
            <a:ext cx="8444061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Often relies on centralized databases, manual verification processes, and limited public accessibility. This can lead to: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76882" y="3448199"/>
            <a:ext cx="8444061" cy="43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5644" marR="0" lvl="1" indent="-117821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2"/>
              <a:buFont typeface="Arial"/>
              <a:buChar char="•"/>
            </a:pPr>
            <a:r>
              <a:rPr lang="en-US" sz="1562" b="0" i="0" u="none" strike="noStrike" cap="non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Opacity and lack of visibility into data.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776882" y="3848844"/>
            <a:ext cx="8444061" cy="43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5644" marR="0" lvl="1" indent="-117821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2"/>
              <a:buFont typeface="Arial"/>
              <a:buChar char="•"/>
            </a:pPr>
            <a:r>
              <a:rPr lang="en-US" sz="1562" b="0" i="0" u="none" strike="noStrike" cap="non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Potential for double-counting or fraudulent credits.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76882" y="4249490"/>
            <a:ext cx="8444061" cy="43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5644" marR="0" lvl="1" indent="-117821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2"/>
              <a:buFont typeface="Arial"/>
              <a:buChar char="•"/>
            </a:pPr>
            <a:r>
              <a:rPr lang="en-US" sz="1562" b="0" i="0" u="none" strike="noStrike" cap="non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Slow, inefficient verification cycles.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776882" y="4650135"/>
            <a:ext cx="8444061" cy="43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5644" marR="0" lvl="1" indent="-117821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2"/>
              <a:buFont typeface="Arial"/>
              <a:buChar char="•"/>
            </a:pPr>
            <a:r>
              <a:rPr lang="en-US" sz="1562" b="0" i="0" u="none" strike="noStrike" cap="non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Difficulty in ensuring equitable distribution of benefits.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9641384" y="1978224"/>
            <a:ext cx="8084724" cy="4492465"/>
          </a:xfrm>
          <a:custGeom>
            <a:avLst/>
            <a:gdLst/>
            <a:ahLst/>
            <a:cxnLst/>
            <a:rect l="l" t="t" r="r" b="b"/>
            <a:pathLst>
              <a:path w="10779633" h="5989955" extrusionOk="0">
                <a:moveTo>
                  <a:pt x="0" y="41148"/>
                </a:moveTo>
                <a:cubicBezTo>
                  <a:pt x="0" y="18415"/>
                  <a:pt x="18415" y="0"/>
                  <a:pt x="41148" y="0"/>
                </a:cubicBezTo>
                <a:lnTo>
                  <a:pt x="10738485" y="0"/>
                </a:lnTo>
                <a:cubicBezTo>
                  <a:pt x="10761218" y="0"/>
                  <a:pt x="10779633" y="18415"/>
                  <a:pt x="10779633" y="41148"/>
                </a:cubicBezTo>
                <a:lnTo>
                  <a:pt x="10779633" y="5948807"/>
                </a:lnTo>
                <a:cubicBezTo>
                  <a:pt x="10779633" y="5971540"/>
                  <a:pt x="10761218" y="5989955"/>
                  <a:pt x="10738485" y="5989955"/>
                </a:cubicBezTo>
                <a:lnTo>
                  <a:pt x="41148" y="5989955"/>
                </a:lnTo>
                <a:cubicBezTo>
                  <a:pt x="18415" y="5989955"/>
                  <a:pt x="0" y="5971540"/>
                  <a:pt x="0" y="5948807"/>
                </a:cubicBezTo>
                <a:close/>
              </a:path>
            </a:pathLst>
          </a:custGeom>
          <a:solidFill>
            <a:srgbClr val="F2EB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9846915" y="2126605"/>
            <a:ext cx="4921300" cy="378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Blue CarbonChain's Blockchain Approach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9846915" y="2605683"/>
            <a:ext cx="7673577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Leverages blockchain technology to establish an immutable, transparent, and efficient system for carbon credit management: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846915" y="3448199"/>
            <a:ext cx="7673577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Transparency:</a:t>
            </a:r>
            <a:r>
              <a:rPr lang="en-US" sz="1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All transactions and verified data are publicly auditable on the blockchain.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9846915" y="4177605"/>
            <a:ext cx="7673577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Immutability:</a:t>
            </a:r>
            <a:r>
              <a:rPr lang="en-US" sz="1562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 cannot be altered once recorded, preventing fraud and greenwashing.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9846915" y="4907013"/>
            <a:ext cx="7673577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Efficiency:</a:t>
            </a:r>
            <a:r>
              <a:rPr lang="en-US" sz="156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Smart contracts automate issuance and retirement, speeding up processes.</a:t>
            </a:r>
            <a:endParaRPr dirty="0"/>
          </a:p>
        </p:txBody>
      </p:sp>
      <p:sp>
        <p:nvSpPr>
          <p:cNvPr id="127" name="Google Shape;127;p2"/>
          <p:cNvSpPr txBox="1"/>
          <p:nvPr/>
        </p:nvSpPr>
        <p:spPr>
          <a:xfrm>
            <a:off x="9846914" y="5636419"/>
            <a:ext cx="7673577" cy="7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Traceability:</a:t>
            </a:r>
            <a:r>
              <a:rPr lang="en-US" sz="156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Credits are linked directly to real-world blue carbon projects with verifiable MRV data.</a:t>
            </a:r>
            <a:endParaRPr dirty="0"/>
          </a:p>
        </p:txBody>
      </p:sp>
      <p:pic>
        <p:nvPicPr>
          <p:cNvPr id="128" name="Google Shape;128;p2" descr="A diagram of a blockchain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2494" y="6550908"/>
            <a:ext cx="16368117" cy="3698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 title="P.jpg"/>
          <p:cNvPicPr preferRelativeResize="0"/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0" y="-227897"/>
            <a:ext cx="1435882" cy="133719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9CD5EF-005B-47DF-63DF-A75360A21E92}"/>
              </a:ext>
            </a:extLst>
          </p:cNvPr>
          <p:cNvSpPr txBox="1"/>
          <p:nvPr/>
        </p:nvSpPr>
        <p:spPr>
          <a:xfrm>
            <a:off x="17726108" y="9758597"/>
            <a:ext cx="39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5240175" y="89177"/>
            <a:ext cx="7306270" cy="59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87" dirty="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Technical Approach: How We'll Build It</a:t>
            </a: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747997" y="5717365"/>
            <a:ext cx="2569500" cy="37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Technologies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719435" y="6290115"/>
            <a:ext cx="8173875" cy="7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Blockchain:</a:t>
            </a:r>
            <a:r>
              <a:rPr lang="en-US" sz="1562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Polygon Testnet for low costs and speed, Solidity for smart contracts, OpenZeppelin for security.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747997" y="7019521"/>
            <a:ext cx="8173875" cy="7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Storage:</a:t>
            </a:r>
            <a:r>
              <a:rPr lang="en-US" sz="1562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IPFS / Web3.Storage for decentralised, secure storage of large field data files (photos, drone videos).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748044" y="7804225"/>
            <a:ext cx="8173875" cy="7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Frontend:</a:t>
            </a:r>
            <a:r>
              <a:rPr lang="en-US" sz="1562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React / React Native for a user-friendly, cross-platform mobile and web interface.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719481" y="8588944"/>
            <a:ext cx="8173875" cy="43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Backend:</a:t>
            </a:r>
            <a:r>
              <a:rPr lang="en-US" sz="1562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Node.js / Express for robust API development.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9404300" y="5717271"/>
            <a:ext cx="3030375" cy="37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Flow &amp; Methodology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9404300" y="6290099"/>
            <a:ext cx="8173875" cy="433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process ensures data integrity from collection to credit issuance:</a:t>
            </a:r>
            <a:endParaRPr/>
          </a:p>
        </p:txBody>
      </p:sp>
      <p:sp>
        <p:nvSpPr>
          <p:cNvPr id="174" name="Google Shape;174;p4" descr="preencoded.png"/>
          <p:cNvSpPr/>
          <p:nvPr/>
        </p:nvSpPr>
        <p:spPr>
          <a:xfrm>
            <a:off x="8694476" y="6723750"/>
            <a:ext cx="9364926" cy="2552369"/>
          </a:xfrm>
          <a:custGeom>
            <a:avLst/>
            <a:gdLst/>
            <a:ahLst/>
            <a:cxnLst/>
            <a:rect l="l" t="t" r="r" b="b"/>
            <a:pathLst>
              <a:path w="10734294" h="2675382" extrusionOk="0">
                <a:moveTo>
                  <a:pt x="0" y="0"/>
                </a:moveTo>
                <a:lnTo>
                  <a:pt x="10734294" y="0"/>
                </a:lnTo>
                <a:lnTo>
                  <a:pt x="10734294" y="2675382"/>
                </a:lnTo>
                <a:lnTo>
                  <a:pt x="0" y="2675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91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1027659" y="8933428"/>
            <a:ext cx="29486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tx2">
                    <a:lumMod val="25000"/>
                  </a:schemeClr>
                </a:solidFill>
                <a:latin typeface="Abril Fatface"/>
                <a:ea typeface="Abril Fatface"/>
                <a:cs typeface="Abril Fatface"/>
                <a:sym typeface="Abril Fatface"/>
              </a:rPr>
              <a:t>Open-Source Advantage</a:t>
            </a:r>
            <a:r>
              <a:rPr lang="en-US" sz="2000" dirty="0">
                <a:solidFill>
                  <a:srgbClr val="B88E23"/>
                </a:solidFill>
                <a:latin typeface="Abril Fatface"/>
                <a:ea typeface="Abril Fatface"/>
                <a:cs typeface="Abril Fatface"/>
                <a:sym typeface="Abril Fatface"/>
              </a:rPr>
              <a:t>:</a:t>
            </a:r>
            <a:endParaRPr dirty="0"/>
          </a:p>
        </p:txBody>
      </p:sp>
      <p:sp>
        <p:nvSpPr>
          <p:cNvPr id="176" name="Google Shape;176;p4"/>
          <p:cNvSpPr txBox="1"/>
          <p:nvPr/>
        </p:nvSpPr>
        <p:spPr>
          <a:xfrm>
            <a:off x="1027659" y="9400461"/>
            <a:ext cx="16540875" cy="947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6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62" dirty="0">
                <a:solidFill>
                  <a:schemeClr val="tx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feasibility of this project is greatly enhanced by the availability of mature, open-source technologies. This provides a wealth of resources and a supportive developer community, making our build highly achievable.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50188" y="9022594"/>
            <a:ext cx="62293" cy="1039082"/>
          </a:xfrm>
          <a:custGeom>
            <a:avLst/>
            <a:gdLst/>
            <a:ahLst/>
            <a:cxnLst/>
            <a:rect l="l" t="t" r="r" b="b"/>
            <a:pathLst>
              <a:path w="83058" h="1385443" extrusionOk="0">
                <a:moveTo>
                  <a:pt x="83058" y="0"/>
                </a:moveTo>
                <a:lnTo>
                  <a:pt x="0" y="0"/>
                </a:lnTo>
                <a:lnTo>
                  <a:pt x="0" y="1385443"/>
                </a:lnTo>
                <a:lnTo>
                  <a:pt x="83058" y="1385443"/>
                </a:lnTo>
                <a:close/>
              </a:path>
            </a:pathLst>
          </a:custGeom>
          <a:solidFill>
            <a:srgbClr val="D3C5B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4" descr="A screenshot of a blue screen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00" y="2299615"/>
            <a:ext cx="15621000" cy="323852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1333500" y="969122"/>
            <a:ext cx="15621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AA9F95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Blockchain?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027659" y="1485900"/>
            <a:ext cx="1626974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 a country where systemic challenges can undermine trust, blockchain isn't just an upgrade—it's a paradigm shift. Its inherent features provide the robust foundation needed for a fair, efficient, and globally recognized carbon market that delivers on its promises.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746558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" name="Google Shape;129;p2" title="P.jpg">
            <a:extLst>
              <a:ext uri="{FF2B5EF4-FFF2-40B4-BE49-F238E27FC236}">
                <a16:creationId xmlns:a16="http://schemas.microsoft.com/office/drawing/2014/main" id="{911F8E48-6F53-B3CB-065B-E41CD10527EC}"/>
              </a:ext>
            </a:extLst>
          </p:cNvPr>
          <p:cNvPicPr preferRelativeResize="0"/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94540" y="-137476"/>
            <a:ext cx="1435882" cy="133719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B56F9184-1734-11FE-B605-78DD3187B77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13002" y="-60643"/>
            <a:ext cx="2946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877490" y="584746"/>
            <a:ext cx="8114109" cy="68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5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7" dirty="0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Impact and Benefits: A Triple Win</a:t>
            </a:r>
            <a:endParaRPr dirty="0"/>
          </a:p>
        </p:txBody>
      </p:sp>
      <p:sp>
        <p:nvSpPr>
          <p:cNvPr id="141" name="Google Shape;141;p3"/>
          <p:cNvSpPr/>
          <p:nvPr/>
        </p:nvSpPr>
        <p:spPr>
          <a:xfrm>
            <a:off x="877491" y="1598414"/>
            <a:ext cx="5343810" cy="4052315"/>
          </a:xfrm>
          <a:custGeom>
            <a:avLst/>
            <a:gdLst/>
            <a:ahLst/>
            <a:cxnLst/>
            <a:rect l="l" t="t" r="r" b="b"/>
            <a:pathLst>
              <a:path w="7125081" h="5403088" extrusionOk="0">
                <a:moveTo>
                  <a:pt x="0" y="50165"/>
                </a:moveTo>
                <a:cubicBezTo>
                  <a:pt x="0" y="22479"/>
                  <a:pt x="22479" y="0"/>
                  <a:pt x="50165" y="0"/>
                </a:cubicBezTo>
                <a:lnTo>
                  <a:pt x="7074916" y="0"/>
                </a:lnTo>
                <a:cubicBezTo>
                  <a:pt x="7102602" y="0"/>
                  <a:pt x="7125081" y="22479"/>
                  <a:pt x="7125081" y="50165"/>
                </a:cubicBezTo>
                <a:lnTo>
                  <a:pt x="7125081" y="5352923"/>
                </a:lnTo>
                <a:cubicBezTo>
                  <a:pt x="7125081" y="5380609"/>
                  <a:pt x="7102602" y="5403088"/>
                  <a:pt x="7074916" y="5403088"/>
                </a:cubicBezTo>
                <a:lnTo>
                  <a:pt x="50165" y="5403088"/>
                </a:lnTo>
                <a:cubicBezTo>
                  <a:pt x="22479" y="5403088"/>
                  <a:pt x="0" y="5380609"/>
                  <a:pt x="0" y="5352923"/>
                </a:cubicBezTo>
                <a:close/>
              </a:path>
            </a:pathLst>
          </a:custGeom>
          <a:solidFill>
            <a:srgbClr val="EEE8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1128118" y="1849041"/>
            <a:ext cx="752189" cy="752190"/>
          </a:xfrm>
          <a:custGeom>
            <a:avLst/>
            <a:gdLst/>
            <a:ahLst/>
            <a:cxnLst/>
            <a:rect l="l" t="t" r="r" b="b"/>
            <a:pathLst>
              <a:path w="1002919" h="1002919" extrusionOk="0">
                <a:moveTo>
                  <a:pt x="0" y="501396"/>
                </a:moveTo>
                <a:cubicBezTo>
                  <a:pt x="0" y="224536"/>
                  <a:pt x="224536" y="0"/>
                  <a:pt x="501396" y="0"/>
                </a:cubicBezTo>
                <a:cubicBezTo>
                  <a:pt x="778256" y="0"/>
                  <a:pt x="1002919" y="224536"/>
                  <a:pt x="1002919" y="501396"/>
                </a:cubicBezTo>
                <a:cubicBezTo>
                  <a:pt x="1002919" y="778256"/>
                  <a:pt x="778383" y="1002919"/>
                  <a:pt x="501396" y="1002919"/>
                </a:cubicBezTo>
                <a:cubicBezTo>
                  <a:pt x="224409" y="1002919"/>
                  <a:pt x="0" y="778383"/>
                  <a:pt x="0" y="501396"/>
                </a:cubicBezTo>
                <a:close/>
              </a:path>
            </a:pathLst>
          </a:custGeom>
          <a:solidFill>
            <a:srgbClr val="D3C5B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 descr="preencoded.png"/>
          <p:cNvSpPr/>
          <p:nvPr/>
        </p:nvSpPr>
        <p:spPr>
          <a:xfrm>
            <a:off x="1334989" y="2013496"/>
            <a:ext cx="338423" cy="423101"/>
          </a:xfrm>
          <a:custGeom>
            <a:avLst/>
            <a:gdLst/>
            <a:ahLst/>
            <a:cxnLst/>
            <a:rect l="l" t="t" r="r" b="b"/>
            <a:pathLst>
              <a:path w="451231" h="564134" extrusionOk="0">
                <a:moveTo>
                  <a:pt x="0" y="0"/>
                </a:moveTo>
                <a:lnTo>
                  <a:pt x="451231" y="0"/>
                </a:lnTo>
                <a:lnTo>
                  <a:pt x="451231" y="564134"/>
                </a:lnTo>
                <a:lnTo>
                  <a:pt x="0" y="564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2293" b="-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1128118" y="2515389"/>
            <a:ext cx="3134171" cy="45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7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7" dirty="0">
                <a:solidFill>
                  <a:srgbClr val="746558"/>
                </a:solidFill>
                <a:latin typeface="Abril Fatface"/>
                <a:ea typeface="Abril Fatface"/>
                <a:cs typeface="Abril Fatface"/>
                <a:sym typeface="Abril Fatface"/>
              </a:rPr>
              <a:t>Government</a:t>
            </a:r>
            <a:endParaRPr dirty="0"/>
          </a:p>
        </p:txBody>
      </p:sp>
      <p:sp>
        <p:nvSpPr>
          <p:cNvPr id="145" name="Google Shape;145;p3"/>
          <p:cNvSpPr txBox="1"/>
          <p:nvPr/>
        </p:nvSpPr>
        <p:spPr>
          <a:xfrm>
            <a:off x="1128111" y="2907406"/>
            <a:ext cx="4842570" cy="213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Provides a reliable and transparent national registry, helping India meet its climate commitments and enhancing its global standing in environmental stewardship.</a:t>
            </a:r>
            <a:endParaRPr dirty="0"/>
          </a:p>
        </p:txBody>
      </p:sp>
      <p:sp>
        <p:nvSpPr>
          <p:cNvPr id="146" name="Google Shape;146;p3"/>
          <p:cNvSpPr/>
          <p:nvPr/>
        </p:nvSpPr>
        <p:spPr>
          <a:xfrm>
            <a:off x="6471940" y="1598414"/>
            <a:ext cx="5344001" cy="4052315"/>
          </a:xfrm>
          <a:custGeom>
            <a:avLst/>
            <a:gdLst/>
            <a:ahLst/>
            <a:cxnLst/>
            <a:rect l="l" t="t" r="r" b="b"/>
            <a:pathLst>
              <a:path w="7125335" h="5403088" extrusionOk="0">
                <a:moveTo>
                  <a:pt x="0" y="50165"/>
                </a:moveTo>
                <a:cubicBezTo>
                  <a:pt x="0" y="22479"/>
                  <a:pt x="22479" y="0"/>
                  <a:pt x="50165" y="0"/>
                </a:cubicBezTo>
                <a:lnTo>
                  <a:pt x="7075170" y="0"/>
                </a:lnTo>
                <a:cubicBezTo>
                  <a:pt x="7102856" y="0"/>
                  <a:pt x="7125335" y="22479"/>
                  <a:pt x="7125335" y="50165"/>
                </a:cubicBezTo>
                <a:lnTo>
                  <a:pt x="7125335" y="5352923"/>
                </a:lnTo>
                <a:cubicBezTo>
                  <a:pt x="7125335" y="5380609"/>
                  <a:pt x="7102856" y="5403088"/>
                  <a:pt x="7075170" y="5403088"/>
                </a:cubicBezTo>
                <a:lnTo>
                  <a:pt x="50165" y="5403088"/>
                </a:lnTo>
                <a:cubicBezTo>
                  <a:pt x="22479" y="5403088"/>
                  <a:pt x="0" y="5380609"/>
                  <a:pt x="0" y="5352923"/>
                </a:cubicBezTo>
                <a:close/>
              </a:path>
            </a:pathLst>
          </a:custGeom>
          <a:solidFill>
            <a:srgbClr val="EEE8D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722566" y="1849041"/>
            <a:ext cx="752190" cy="752190"/>
          </a:xfrm>
          <a:custGeom>
            <a:avLst/>
            <a:gdLst/>
            <a:ahLst/>
            <a:cxnLst/>
            <a:rect l="l" t="t" r="r" b="b"/>
            <a:pathLst>
              <a:path w="1002919" h="1002919" extrusionOk="0">
                <a:moveTo>
                  <a:pt x="0" y="501396"/>
                </a:moveTo>
                <a:cubicBezTo>
                  <a:pt x="0" y="224536"/>
                  <a:pt x="224536" y="0"/>
                  <a:pt x="501396" y="0"/>
                </a:cubicBezTo>
                <a:cubicBezTo>
                  <a:pt x="778256" y="0"/>
                  <a:pt x="1002919" y="224536"/>
                  <a:pt x="1002919" y="501396"/>
                </a:cubicBezTo>
                <a:cubicBezTo>
                  <a:pt x="1002919" y="778256"/>
                  <a:pt x="778383" y="1002919"/>
                  <a:pt x="501396" y="1002919"/>
                </a:cubicBezTo>
                <a:cubicBezTo>
                  <a:pt x="224409" y="1002919"/>
                  <a:pt x="0" y="778383"/>
                  <a:pt x="0" y="501396"/>
                </a:cubicBezTo>
                <a:close/>
              </a:path>
            </a:pathLst>
          </a:custGeom>
          <a:solidFill>
            <a:srgbClr val="D3C5B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 descr="preencoded.png"/>
          <p:cNvSpPr/>
          <p:nvPr/>
        </p:nvSpPr>
        <p:spPr>
          <a:xfrm>
            <a:off x="6929437" y="2013496"/>
            <a:ext cx="338423" cy="423101"/>
          </a:xfrm>
          <a:custGeom>
            <a:avLst/>
            <a:gdLst/>
            <a:ahLst/>
            <a:cxnLst/>
            <a:rect l="l" t="t" r="r" b="b"/>
            <a:pathLst>
              <a:path w="451231" h="564134" extrusionOk="0">
                <a:moveTo>
                  <a:pt x="0" y="0"/>
                </a:moveTo>
                <a:lnTo>
                  <a:pt x="451231" y="0"/>
                </a:lnTo>
                <a:lnTo>
                  <a:pt x="451231" y="564134"/>
                </a:lnTo>
                <a:lnTo>
                  <a:pt x="0" y="564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2293" b="-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6722566" y="2515388"/>
            <a:ext cx="3134171" cy="458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7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7" dirty="0">
                <a:solidFill>
                  <a:srgbClr val="746558"/>
                </a:solidFill>
                <a:latin typeface="Abril Fatface"/>
                <a:ea typeface="Abril Fatface"/>
                <a:cs typeface="Abril Fatface"/>
                <a:sym typeface="Abril Fatface"/>
              </a:rPr>
              <a:t>Companies/Polluters</a:t>
            </a:r>
            <a:endParaRPr dirty="0"/>
          </a:p>
        </p:txBody>
      </p:sp>
      <p:sp>
        <p:nvSpPr>
          <p:cNvPr id="150" name="Google Shape;150;p3"/>
          <p:cNvSpPr txBox="1"/>
          <p:nvPr/>
        </p:nvSpPr>
        <p:spPr>
          <a:xfrm>
            <a:off x="6722566" y="2941981"/>
            <a:ext cx="4842719" cy="213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Offers a credible and verifiable way to offset emissions, promoting genuine corporate responsibility and fostering a sustainable business ecosystem.</a:t>
            </a:r>
            <a:endParaRPr dirty="0"/>
          </a:p>
        </p:txBody>
      </p:sp>
      <p:sp>
        <p:nvSpPr>
          <p:cNvPr id="151" name="Google Shape;151;p3"/>
          <p:cNvSpPr txBox="1"/>
          <p:nvPr/>
        </p:nvSpPr>
        <p:spPr>
          <a:xfrm>
            <a:off x="877491" y="5799384"/>
            <a:ext cx="16864153" cy="5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solution delivers comprehensive benefits:</a:t>
            </a:r>
            <a:endParaRPr dirty="0"/>
          </a:p>
        </p:txBody>
      </p:sp>
      <p:sp>
        <p:nvSpPr>
          <p:cNvPr id="152" name="Google Shape;152;p3"/>
          <p:cNvSpPr txBox="1"/>
          <p:nvPr/>
        </p:nvSpPr>
        <p:spPr>
          <a:xfrm>
            <a:off x="877491" y="6356996"/>
            <a:ext cx="16533019" cy="935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Social:</a:t>
            </a:r>
            <a:r>
              <a:rPr lang="en-US" sz="1937" dirty="0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Empowers local communities with direct participation and economic benefit, fostering environmental stewardship and reducing inequality.</a:t>
            </a:r>
            <a:endParaRPr dirty="0"/>
          </a:p>
        </p:txBody>
      </p:sp>
      <p:sp>
        <p:nvSpPr>
          <p:cNvPr id="153" name="Google Shape;153;p3"/>
          <p:cNvSpPr txBox="1"/>
          <p:nvPr/>
        </p:nvSpPr>
        <p:spPr>
          <a:xfrm>
            <a:off x="877491" y="7372796"/>
            <a:ext cx="16533019" cy="133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Economic:</a:t>
            </a:r>
            <a:r>
              <a:rPr lang="en-US" sz="193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Monetises restoration efforts through transparent carbon credits, attracting investment and creating new green economic opportunities. Creates a new, fair, and direct revenue stream from their conservation efforts, empowering them as climate stewards and improving livelihoods.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877510" y="8920134"/>
            <a:ext cx="16533000" cy="115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35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 dirty="0">
                <a:solidFill>
                  <a:schemeClr val="tx2">
                    <a:lumMod val="25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Environmental:</a:t>
            </a:r>
            <a:r>
              <a:rPr lang="en-US" sz="1937" dirty="0">
                <a:solidFill>
                  <a:schemeClr val="tx2">
                    <a:lumMod val="25000"/>
                  </a:schemeClr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Accelerates coastal ecosystem restoration, protects vital biodiversity, and strengthens climate resilience against extreme weather events.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</p:txBody>
      </p:sp>
      <p:pic>
        <p:nvPicPr>
          <p:cNvPr id="155" name="Google Shape;155;p3" descr="A diagram of a graph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66567" y="1598414"/>
            <a:ext cx="5675077" cy="449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ject 6">
            <a:extLst>
              <a:ext uri="{FF2B5EF4-FFF2-40B4-BE49-F238E27FC236}">
                <a16:creationId xmlns:a16="http://schemas.microsoft.com/office/drawing/2014/main" id="{92C63854-8F9C-C421-129E-003CD4831C2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904105" y="-5157"/>
            <a:ext cx="2946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867966" y="762744"/>
            <a:ext cx="8912275" cy="73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5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Feasibility and Viability: Making it Real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689521" y="1775966"/>
            <a:ext cx="8330470" cy="7634002"/>
          </a:xfrm>
          <a:custGeom>
            <a:avLst/>
            <a:gdLst/>
            <a:ahLst/>
            <a:cxnLst/>
            <a:rect l="l" t="t" r="r" b="b"/>
            <a:pathLst>
              <a:path w="11107293" h="10178669" extrusionOk="0">
                <a:moveTo>
                  <a:pt x="0" y="49530"/>
                </a:moveTo>
                <a:cubicBezTo>
                  <a:pt x="0" y="22225"/>
                  <a:pt x="22225" y="0"/>
                  <a:pt x="49530" y="0"/>
                </a:cubicBezTo>
                <a:lnTo>
                  <a:pt x="11057763" y="0"/>
                </a:lnTo>
                <a:cubicBezTo>
                  <a:pt x="11085195" y="0"/>
                  <a:pt x="11107293" y="22225"/>
                  <a:pt x="11107293" y="49530"/>
                </a:cubicBezTo>
                <a:lnTo>
                  <a:pt x="11107293" y="10129139"/>
                </a:lnTo>
                <a:cubicBezTo>
                  <a:pt x="11107293" y="10156571"/>
                  <a:pt x="11085068" y="10178669"/>
                  <a:pt x="11057763" y="10178669"/>
                </a:cubicBezTo>
                <a:lnTo>
                  <a:pt x="49530" y="10178669"/>
                </a:lnTo>
                <a:cubicBezTo>
                  <a:pt x="22098" y="10178669"/>
                  <a:pt x="0" y="10156444"/>
                  <a:pt x="0" y="10129139"/>
                </a:cubicBezTo>
                <a:close/>
              </a:path>
            </a:pathLst>
          </a:custGeom>
          <a:solidFill>
            <a:srgbClr val="F2EB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937469" y="1966764"/>
            <a:ext cx="3416843" cy="41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76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7">
                <a:solidFill>
                  <a:srgbClr val="B88E23"/>
                </a:solidFill>
                <a:latin typeface="Abril Fatface"/>
                <a:ea typeface="Abril Fatface"/>
                <a:cs typeface="Abril Fatface"/>
                <a:sym typeface="Abril Fatface"/>
              </a:rPr>
              <a:t>Analysis of Feasibility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937469" y="2535436"/>
            <a:ext cx="7834610" cy="171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Technical:</a:t>
            </a: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Our solution leverages existing, proven blockchain frameworks. We are not inventing new technology but applying mature solutions to a critical problem.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937475" y="4208701"/>
            <a:ext cx="78345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Operational:</a:t>
            </a: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We will overcome user training challenges for NGOs and communities by developing a simple, intuitive, offline-first mobile app with clear, guided workflows, ensuring widespread adoption.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67966" y="6413817"/>
            <a:ext cx="7834500" cy="25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we'll able to do it:</a:t>
            </a: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We possess a fundamental understanding of the core technologies, have a well-defined strategic plan, and benefit from blockchain's open-source nature, providing extensive learning resources and a robust foundation for development.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9277499" y="1775966"/>
            <a:ext cx="8330470" cy="7634002"/>
          </a:xfrm>
          <a:custGeom>
            <a:avLst/>
            <a:gdLst/>
            <a:ahLst/>
            <a:cxnLst/>
            <a:rect l="l" t="t" r="r" b="b"/>
            <a:pathLst>
              <a:path w="11107293" h="10178669" extrusionOk="0">
                <a:moveTo>
                  <a:pt x="0" y="49530"/>
                </a:moveTo>
                <a:cubicBezTo>
                  <a:pt x="0" y="22225"/>
                  <a:pt x="22225" y="0"/>
                  <a:pt x="49530" y="0"/>
                </a:cubicBezTo>
                <a:lnTo>
                  <a:pt x="11057763" y="0"/>
                </a:lnTo>
                <a:cubicBezTo>
                  <a:pt x="11085195" y="0"/>
                  <a:pt x="11107293" y="22225"/>
                  <a:pt x="11107293" y="49530"/>
                </a:cubicBezTo>
                <a:lnTo>
                  <a:pt x="11107293" y="10129139"/>
                </a:lnTo>
                <a:cubicBezTo>
                  <a:pt x="11107293" y="10156571"/>
                  <a:pt x="11085068" y="10178669"/>
                  <a:pt x="11057763" y="10178669"/>
                </a:cubicBezTo>
                <a:lnTo>
                  <a:pt x="49530" y="10178669"/>
                </a:lnTo>
                <a:cubicBezTo>
                  <a:pt x="22098" y="10178669"/>
                  <a:pt x="0" y="10156444"/>
                  <a:pt x="0" y="10129139"/>
                </a:cubicBezTo>
                <a:close/>
              </a:path>
            </a:pathLst>
          </a:custGeom>
          <a:solidFill>
            <a:srgbClr val="F2EBD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9525446" y="1966764"/>
            <a:ext cx="5050114" cy="419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76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7">
                <a:solidFill>
                  <a:srgbClr val="B88E23"/>
                </a:solidFill>
                <a:latin typeface="Abril Fatface"/>
                <a:ea typeface="Abril Fatface"/>
                <a:cs typeface="Abril Fatface"/>
                <a:sym typeface="Abril Fatface"/>
              </a:rPr>
              <a:t>Potential Challenges &amp; Strategies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9519493" y="2684264"/>
            <a:ext cx="7846504" cy="6452711"/>
          </a:xfrm>
          <a:custGeom>
            <a:avLst/>
            <a:gdLst/>
            <a:ahLst/>
            <a:cxnLst/>
            <a:rect l="l" t="t" r="r" b="b"/>
            <a:pathLst>
              <a:path w="10462006" h="8603615" extrusionOk="0">
                <a:moveTo>
                  <a:pt x="0" y="57531"/>
                </a:moveTo>
                <a:cubicBezTo>
                  <a:pt x="0" y="25781"/>
                  <a:pt x="25781" y="0"/>
                  <a:pt x="57531" y="0"/>
                </a:cubicBezTo>
                <a:lnTo>
                  <a:pt x="10404475" y="0"/>
                </a:lnTo>
                <a:lnTo>
                  <a:pt x="10404475" y="7874"/>
                </a:lnTo>
                <a:lnTo>
                  <a:pt x="10404475" y="0"/>
                </a:lnTo>
                <a:cubicBezTo>
                  <a:pt x="10436225" y="0"/>
                  <a:pt x="10462006" y="25781"/>
                  <a:pt x="10462006" y="57531"/>
                </a:cubicBezTo>
                <a:lnTo>
                  <a:pt x="10454132" y="57531"/>
                </a:lnTo>
                <a:lnTo>
                  <a:pt x="10462006" y="57531"/>
                </a:lnTo>
                <a:lnTo>
                  <a:pt x="10462006" y="8546084"/>
                </a:lnTo>
                <a:lnTo>
                  <a:pt x="10454132" y="8546084"/>
                </a:lnTo>
                <a:lnTo>
                  <a:pt x="10462006" y="8546084"/>
                </a:lnTo>
                <a:cubicBezTo>
                  <a:pt x="10462006" y="8577834"/>
                  <a:pt x="10436225" y="8603615"/>
                  <a:pt x="10404475" y="8603615"/>
                </a:cubicBezTo>
                <a:lnTo>
                  <a:pt x="10404475" y="8595740"/>
                </a:lnTo>
                <a:lnTo>
                  <a:pt x="10404475" y="8603615"/>
                </a:lnTo>
                <a:lnTo>
                  <a:pt x="57531" y="8603615"/>
                </a:lnTo>
                <a:lnTo>
                  <a:pt x="57531" y="8595740"/>
                </a:lnTo>
                <a:lnTo>
                  <a:pt x="57531" y="8603615"/>
                </a:lnTo>
                <a:cubicBezTo>
                  <a:pt x="25781" y="8603615"/>
                  <a:pt x="0" y="8577834"/>
                  <a:pt x="0" y="8546084"/>
                </a:cubicBezTo>
                <a:lnTo>
                  <a:pt x="0" y="57531"/>
                </a:lnTo>
                <a:lnTo>
                  <a:pt x="7874" y="57531"/>
                </a:lnTo>
                <a:lnTo>
                  <a:pt x="0" y="57531"/>
                </a:lnTo>
                <a:moveTo>
                  <a:pt x="15875" y="57531"/>
                </a:moveTo>
                <a:lnTo>
                  <a:pt x="15875" y="8546084"/>
                </a:lnTo>
                <a:lnTo>
                  <a:pt x="7874" y="8546084"/>
                </a:lnTo>
                <a:lnTo>
                  <a:pt x="15748" y="8546084"/>
                </a:lnTo>
                <a:cubicBezTo>
                  <a:pt x="15748" y="8569071"/>
                  <a:pt x="34417" y="8587740"/>
                  <a:pt x="57404" y="8587740"/>
                </a:cubicBezTo>
                <a:lnTo>
                  <a:pt x="10404475" y="8587740"/>
                </a:lnTo>
                <a:cubicBezTo>
                  <a:pt x="10427462" y="8587740"/>
                  <a:pt x="10446131" y="8569071"/>
                  <a:pt x="10446131" y="8546084"/>
                </a:cubicBezTo>
                <a:lnTo>
                  <a:pt x="10446131" y="57531"/>
                </a:lnTo>
                <a:cubicBezTo>
                  <a:pt x="10446131" y="34544"/>
                  <a:pt x="10427462" y="15875"/>
                  <a:pt x="10404475" y="15875"/>
                </a:cubicBezTo>
                <a:lnTo>
                  <a:pt x="57531" y="15875"/>
                </a:lnTo>
                <a:lnTo>
                  <a:pt x="57531" y="7874"/>
                </a:lnTo>
                <a:lnTo>
                  <a:pt x="57531" y="15875"/>
                </a:lnTo>
                <a:cubicBezTo>
                  <a:pt x="34544" y="15875"/>
                  <a:pt x="15875" y="34544"/>
                  <a:pt x="15875" y="57531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9534971" y="2699742"/>
            <a:ext cx="7815548" cy="713042"/>
          </a:xfrm>
          <a:custGeom>
            <a:avLst/>
            <a:gdLst/>
            <a:ahLst/>
            <a:cxnLst/>
            <a:rect l="l" t="t" r="r" b="b"/>
            <a:pathLst>
              <a:path w="10420731" h="950722" extrusionOk="0">
                <a:moveTo>
                  <a:pt x="0" y="0"/>
                </a:moveTo>
                <a:lnTo>
                  <a:pt x="10420731" y="0"/>
                </a:lnTo>
                <a:lnTo>
                  <a:pt x="10420731" y="950722"/>
                </a:lnTo>
                <a:lnTo>
                  <a:pt x="0" y="95072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9782919" y="2734121"/>
            <a:ext cx="3407122" cy="52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Challenge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13695461" y="2734121"/>
            <a:ext cx="3407122" cy="52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b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Strategy to Overcome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9534971" y="3412777"/>
            <a:ext cx="7815548" cy="2299526"/>
          </a:xfrm>
          <a:custGeom>
            <a:avLst/>
            <a:gdLst/>
            <a:ahLst/>
            <a:cxnLst/>
            <a:rect l="l" t="t" r="r" b="b"/>
            <a:pathLst>
              <a:path w="10420731" h="3066034" extrusionOk="0">
                <a:moveTo>
                  <a:pt x="0" y="0"/>
                </a:moveTo>
                <a:lnTo>
                  <a:pt x="10420731" y="0"/>
                </a:lnTo>
                <a:lnTo>
                  <a:pt x="10420731" y="3066034"/>
                </a:lnTo>
                <a:lnTo>
                  <a:pt x="0" y="306603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9782919" y="3447157"/>
            <a:ext cx="3407122" cy="52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Accuracy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3695461" y="3447157"/>
            <a:ext cx="3655058" cy="226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 robust verification protocols by NCCR admin tools and real-time field data integration.</a:t>
            </a:r>
            <a:endParaRPr dirty="0"/>
          </a:p>
        </p:txBody>
      </p:sp>
      <p:sp>
        <p:nvSpPr>
          <p:cNvPr id="206" name="Google Shape;206;p5"/>
          <p:cNvSpPr/>
          <p:nvPr/>
        </p:nvSpPr>
        <p:spPr>
          <a:xfrm>
            <a:off x="9534971" y="5712321"/>
            <a:ext cx="7815548" cy="1902905"/>
          </a:xfrm>
          <a:custGeom>
            <a:avLst/>
            <a:gdLst/>
            <a:ahLst/>
            <a:cxnLst/>
            <a:rect l="l" t="t" r="r" b="b"/>
            <a:pathLst>
              <a:path w="10420731" h="2537206" extrusionOk="0">
                <a:moveTo>
                  <a:pt x="0" y="0"/>
                </a:moveTo>
                <a:lnTo>
                  <a:pt x="10420731" y="0"/>
                </a:lnTo>
                <a:lnTo>
                  <a:pt x="10420731" y="2537206"/>
                </a:lnTo>
                <a:lnTo>
                  <a:pt x="0" y="253720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9782919" y="5746700"/>
            <a:ext cx="3407122" cy="52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Regulatory Alignment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13695461" y="5746700"/>
            <a:ext cx="3655058" cy="171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Pilot projects and a modular design to adapt to evolving carbon market standards.</a:t>
            </a:r>
            <a:endParaRPr dirty="0"/>
          </a:p>
        </p:txBody>
      </p:sp>
      <p:sp>
        <p:nvSpPr>
          <p:cNvPr id="209" name="Google Shape;209;p5"/>
          <p:cNvSpPr/>
          <p:nvPr/>
        </p:nvSpPr>
        <p:spPr>
          <a:xfrm>
            <a:off x="9534971" y="7615237"/>
            <a:ext cx="7815548" cy="1506283"/>
          </a:xfrm>
          <a:custGeom>
            <a:avLst/>
            <a:gdLst/>
            <a:ahLst/>
            <a:cxnLst/>
            <a:rect l="l" t="t" r="r" b="b"/>
            <a:pathLst>
              <a:path w="10420731" h="2008378" extrusionOk="0">
                <a:moveTo>
                  <a:pt x="0" y="0"/>
                </a:moveTo>
                <a:lnTo>
                  <a:pt x="10420731" y="0"/>
                </a:lnTo>
                <a:lnTo>
                  <a:pt x="10420731" y="2008378"/>
                </a:lnTo>
                <a:lnTo>
                  <a:pt x="0" y="20083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9782919" y="7649616"/>
            <a:ext cx="3407122" cy="52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Adoption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13695461" y="7649616"/>
            <a:ext cx="3407122" cy="131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7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Community engagement, co-creation with NGOs, and intuitive app design.</a:t>
            </a:r>
            <a:endParaRPr/>
          </a:p>
        </p:txBody>
      </p:sp>
      <p:pic>
        <p:nvPicPr>
          <p:cNvPr id="2" name="Google Shape;129;p2" title="P.jpg">
            <a:extLst>
              <a:ext uri="{FF2B5EF4-FFF2-40B4-BE49-F238E27FC236}">
                <a16:creationId xmlns:a16="http://schemas.microsoft.com/office/drawing/2014/main" id="{6D6CE5DE-F0E7-1EDB-17E4-85694EBE87B1}"/>
              </a:ext>
            </a:extLst>
          </p:cNvPr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-227897"/>
            <a:ext cx="1435882" cy="133719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BD110A1A-C13D-1ACB-A6DB-8FDCC0D2127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15164" y="13444"/>
            <a:ext cx="2946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992238" y="729257"/>
            <a:ext cx="6937131" cy="80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37">
                <a:solidFill>
                  <a:srgbClr val="484237"/>
                </a:solidFill>
                <a:latin typeface="Abril Fatface"/>
                <a:ea typeface="Abril Fatface"/>
                <a:cs typeface="Abril Fatface"/>
                <a:sym typeface="Abril Fatface"/>
              </a:rPr>
              <a:t>References and Research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992238" y="1985962"/>
            <a:ext cx="16303526" cy="105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work is informed by leading research and insights into blockchain, carbon markets, and environmental verification: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992238" y="3212157"/>
            <a:ext cx="16303526" cy="105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Frontiers in Blockchain:</a:t>
            </a: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"Blockchain-based voluntary carbon market: strategic insights..." </a:t>
            </a:r>
            <a:r>
              <a:rPr lang="en-US" sz="2187" u="sng">
                <a:solidFill>
                  <a:srgbClr val="0563C1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https://www.frontiersin.org/journals/blockchain/articles/10.3389/fbloc.2025.1603695/full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992238" y="4218534"/>
            <a:ext cx="16303526" cy="1513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CarbonMark:</a:t>
            </a: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"The Rise of Tokenized Carbon Credits: Why Blockchain is Changing Everything" </a:t>
            </a:r>
            <a:r>
              <a:rPr lang="en-US" sz="2187" u="sng">
                <a:solidFill>
                  <a:srgbClr val="0563C1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https://www.carbonmark.com/post/the-rise-of-tokenized-carbon-credits-why-blockchain-is-changing-everything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992238" y="5678538"/>
            <a:ext cx="16303526" cy="1513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Prism.Sustainability-Directory.com:</a:t>
            </a: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"Blockchain for Transparent Blue Carbon Credit Markets" </a:t>
            </a:r>
            <a:r>
              <a:rPr lang="en-US" sz="2187" u="sng">
                <a:solidFill>
                  <a:srgbClr val="0563C1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https://prism.sustainability-directory.com/scenario/blockchain-for-transparent-blue-carbon-credit-markets/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992238" y="7138541"/>
            <a:ext cx="16303526" cy="1513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 b="1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World Bank:</a:t>
            </a: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"What You Need to Know About the Measurement, Reporting and Verification (MRV) of Carbon Credits" </a:t>
            </a:r>
            <a:r>
              <a:rPr lang="en-US" sz="2187" u="sng">
                <a:solidFill>
                  <a:srgbClr val="0563C1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https://www.worldbank.org/en/news/feature/2022/07/27/what-you-need-to-know-about-the-measurement-reporting-and-verification-mrv-of-carbon-credits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992238" y="8818364"/>
            <a:ext cx="16303526" cy="60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54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87">
                <a:solidFill>
                  <a:srgbClr val="746558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 for your time and consideration.</a:t>
            </a:r>
            <a:endParaRPr/>
          </a:p>
        </p:txBody>
      </p:sp>
      <p:pic>
        <p:nvPicPr>
          <p:cNvPr id="2" name="Google Shape;129;p2" title="P.jpg">
            <a:extLst>
              <a:ext uri="{FF2B5EF4-FFF2-40B4-BE49-F238E27FC236}">
                <a16:creationId xmlns:a16="http://schemas.microsoft.com/office/drawing/2014/main" id="{D16167DE-744F-56D4-7019-A3157836DB4F}"/>
              </a:ext>
            </a:extLst>
          </p:cNvPr>
          <p:cNvPicPr preferRelativeResize="0"/>
          <p:nvPr/>
        </p:nvPicPr>
        <p:blipFill>
          <a:blip r:embed="rId8">
            <a:alphaModFix amt="20000"/>
          </a:blip>
          <a:stretch>
            <a:fillRect/>
          </a:stretch>
        </p:blipFill>
        <p:spPr>
          <a:xfrm>
            <a:off x="0" y="-105882"/>
            <a:ext cx="1435882" cy="133719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5275B70F-C6C9-3F6A-246B-4FE43D00589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59410" y="113307"/>
            <a:ext cx="2946400" cy="149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851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Abril Fatface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Aaditya Bhardwaj</dc:creator>
  <cp:lastModifiedBy>Aaditya Bhardwaj</cp:lastModifiedBy>
  <cp:revision>3</cp:revision>
  <dcterms:created xsi:type="dcterms:W3CDTF">2006-08-16T00:00:00Z</dcterms:created>
  <dcterms:modified xsi:type="dcterms:W3CDTF">2025-09-09T17:58:31Z</dcterms:modified>
</cp:coreProperties>
</file>